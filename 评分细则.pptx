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9" r:id="rId3"/>
    <p:sldId id="256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360" autoAdjust="0"/>
  </p:normalViewPr>
  <p:slideViewPr>
    <p:cSldViewPr snapToGrid="0">
      <p:cViewPr varScale="1">
        <p:scale>
          <a:sx n="92" d="100"/>
          <a:sy n="92" d="100"/>
        </p:scale>
        <p:origin x="30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162110-47B0-43D3-9162-A5C1D96FE84C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C04C74-32B4-450B-9AF7-AC25184C4C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2351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C04C74-32B4-450B-9AF7-AC25184C4C9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24896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代码，准确性和可读性</a:t>
            </a:r>
            <a:endParaRPr lang="en-US" altLang="zh-CN" dirty="0"/>
          </a:p>
          <a:p>
            <a:r>
              <a:rPr lang="en-US" altLang="zh-CN" dirty="0"/>
              <a:t>Demo</a:t>
            </a:r>
            <a:r>
              <a:rPr lang="zh-CN" altLang="en-US" dirty="0"/>
              <a:t>，功能性，是否能够清晰地展示你们的课程设计的核心功能。</a:t>
            </a:r>
            <a:endParaRPr lang="en-US" altLang="zh-CN" dirty="0"/>
          </a:p>
          <a:p>
            <a:r>
              <a:rPr lang="zh-CN" altLang="en-US" dirty="0"/>
              <a:t>用户体验，</a:t>
            </a:r>
            <a:r>
              <a:rPr lang="en-US" altLang="zh-CN" dirty="0"/>
              <a:t>demo</a:t>
            </a:r>
            <a:r>
              <a:rPr lang="zh-CN" altLang="en-US" dirty="0"/>
              <a:t>是否简洁直观，有些可能是可以交互的。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C04C74-32B4-450B-9AF7-AC25184C4C9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27823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报告，包括完整性，对于实验结果的分析和总结。还有是否有创新性，不只是简单地复现。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Presentation</a:t>
            </a:r>
            <a:r>
              <a:rPr lang="zh-CN" altLang="en-US" dirty="0"/>
              <a:t>，</a:t>
            </a:r>
            <a:r>
              <a:rPr lang="en-US" altLang="zh-CN" dirty="0"/>
              <a:t>ppt</a:t>
            </a:r>
            <a:r>
              <a:rPr lang="zh-CN" altLang="en-US" dirty="0"/>
              <a:t>是否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清晰、简洁，有效地传达了你们的课程设计的关键概念和成果。</a:t>
            </a:r>
            <a:endParaRPr lang="en-US" altLang="zh-CN" b="0" i="0" dirty="0">
              <a:solidFill>
                <a:srgbClr val="000000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最后这个是汇报的技巧，上来汇报的同学口语是否流利，如果与观众有互动，并使用适当的视觉辅助工具（如幻灯片、视频等）。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C04C74-32B4-450B-9AF7-AC25184C4C9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4139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3F43B3-D7EB-4A46-9E1C-63493A0470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B534FED-61C5-46B5-BEAB-39A2B086CC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4FD287-F495-44CE-9DAE-1727C2537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CCFAA-0348-46DF-AD53-EBBEE2FD1B8B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F1EE8A-844D-4F3B-99D2-270F0751B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867C8C-E273-4293-AFAF-891A5E528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45074-45B6-4F78-885E-B437C2E77D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0678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59240E-D7F5-4F90-A667-964ACA6F6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A86D38-157F-4F18-8671-4CA77E025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92AAE3-4CF1-46CD-A97B-DDF0D08A7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CCFAA-0348-46DF-AD53-EBBEE2FD1B8B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D6EA53-BC3F-4ED4-9F20-3ABE01899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DB444B-1BFB-43F7-9B9B-D0FBA0FEA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45074-45B6-4F78-885E-B437C2E77D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1719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B0178A-C757-4823-8E61-C0FF57E28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917836-2D19-4BDE-974A-8808682A24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A55524-FEC8-4222-AF17-A3EC02F80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CCFAA-0348-46DF-AD53-EBBEE2FD1B8B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05ED60-D399-4D32-9E23-A7E10573B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023532-D9A4-450C-838A-F67E5E4B8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45074-45B6-4F78-885E-B437C2E77D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9999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1B0BE2-003C-4E7C-854C-6419B8B76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061808-8CA5-4633-A83F-2F01950B74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17BCB5C-254A-4A78-B367-E2AF64D3C7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79ECD7-6F19-47F8-B4D5-B92575E22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CCFAA-0348-46DF-AD53-EBBEE2FD1B8B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F88BF7-3C2E-4402-A051-4AED6DCF5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2A2BA5-A4AE-4DE2-BF9E-1546E8003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45074-45B6-4F78-885E-B437C2E77D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1659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73E78D-C909-4BC3-912A-240A914E7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59CB08-C808-4571-B4D8-7EF202B61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D23EC50-9EAB-4A59-B02F-C6FCC067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1144C06-362E-4D29-A4FF-392412EDE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114EFE5-A729-4E7B-9490-3CA4FA8CF1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2C973D2-D249-4ED2-8020-2C56ED181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CCFAA-0348-46DF-AD53-EBBEE2FD1B8B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013A2A2-21CA-48EA-B899-2BADE5636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01A1C88-346F-47A0-B8A0-62DE372DC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45074-45B6-4F78-885E-B437C2E77D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0633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A102EF-DE75-4385-9905-5CF878E79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123898D-DB52-45DD-A758-3F80A3E0F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CCFAA-0348-46DF-AD53-EBBEE2FD1B8B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481CDA7-90E7-4968-8799-4547AE86A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F130E67-3423-4503-9D64-C606B795C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45074-45B6-4F78-885E-B437C2E77D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6408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BC94156-5079-4F0C-B6D9-172B506A2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CCFAA-0348-46DF-AD53-EBBEE2FD1B8B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B426245-B824-4F2B-91D6-BAEA70E16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914993-32C6-4652-9B44-306C96341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45074-45B6-4F78-885E-B437C2E77D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134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AAC0E0-1F95-4C87-A7A9-5DAFF98CB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374FB4-DD5D-440F-8C54-186B1980D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6EB7C3E-7E85-40BB-8527-FF3916ABDE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469D8C-F48A-4498-9016-85FF7BAA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CCFAA-0348-46DF-AD53-EBBEE2FD1B8B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957BFA-A020-4C34-B211-7A8D99135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DB9A9E-DB14-4166-9275-5F8ADF781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45074-45B6-4F78-885E-B437C2E77D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8464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637537-BAAD-4CAA-A2E5-DCA13B278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1FBEEBA-8A91-4B33-B1D5-F372A4703F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F674B7-182F-444A-A09E-F8CF3C72AE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73F6FC-BA54-4401-9CEA-77CAC733E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CCFAA-0348-46DF-AD53-EBBEE2FD1B8B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F873F0-DA94-416A-9D9D-7669FC28F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894A87-D652-42BD-8DD5-7EE251FBA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45074-45B6-4F78-885E-B437C2E77D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6589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0858A-011F-4CB8-8D58-479A1454A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4003906-DE4C-454E-A1C7-166A895BC2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450357-E395-4A68-A04E-1ECAB435E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CCFAA-0348-46DF-AD53-EBBEE2FD1B8B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9C6AEB-711C-4153-9123-8FF74715B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0773AE-74EE-49D5-96EE-86FA0C755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45074-45B6-4F78-885E-B437C2E77D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4960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F43F3A0-9BE0-4418-A017-54EAAC2D8F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652C6F-0932-46B5-B79B-B74D447A83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CC035E-0239-4DFE-8DB6-34E04DE26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CCFAA-0348-46DF-AD53-EBBEE2FD1B8B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2F4AEC-B33C-45A9-9195-3001F7CBD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18867C-4E2D-432D-8E4B-55028F669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45074-45B6-4F78-885E-B437C2E77D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3741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50DC60E-2210-4476-8C06-C37DB6AE3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E6F7B2-8A10-4642-B7A9-A4EF01FE7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A70ABE-06DB-46DF-872C-3AD700E17B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8CCFAA-0348-46DF-AD53-EBBEE2FD1B8B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FD8732-6B9C-4318-97F7-C1485031E0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985A1B-1517-413F-A433-27EFA4C067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745074-45B6-4F78-885E-B437C2E77D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4671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0EE827E7-0F05-4556-951B-2EA540E74A23}"/>
              </a:ext>
            </a:extLst>
          </p:cNvPr>
          <p:cNvSpPr txBox="1"/>
          <p:nvPr/>
        </p:nvSpPr>
        <p:spPr>
          <a:xfrm>
            <a:off x="3535052" y="556181"/>
            <a:ext cx="47699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rgbClr val="C00000"/>
                </a:solidFill>
              </a:rPr>
              <a:t>Project </a:t>
            </a:r>
            <a:r>
              <a:rPr lang="en-US" altLang="zh-CN" sz="2400" b="1" dirty="0">
                <a:solidFill>
                  <a:srgbClr val="C00000"/>
                </a:solidFill>
              </a:rPr>
              <a:t>(50%)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FBB8BB1-AEDA-4DB8-BCA8-9844E4EB799F}"/>
              </a:ext>
            </a:extLst>
          </p:cNvPr>
          <p:cNvSpPr txBox="1"/>
          <p:nvPr/>
        </p:nvSpPr>
        <p:spPr>
          <a:xfrm>
            <a:off x="1058748" y="2090172"/>
            <a:ext cx="1007450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SzPts val="1400"/>
              <a:buFont typeface="Wingdings" panose="05000000000000000000" pitchFamily="2" charset="2"/>
              <a:buChar char="l"/>
            </a:pPr>
            <a:r>
              <a:rPr lang="en-US" altLang="zh-CN" sz="2400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5 to 7 persons in each team</a:t>
            </a:r>
          </a:p>
          <a:p>
            <a:pPr marL="342900" lvl="0" indent="-342900">
              <a:buSzPts val="1400"/>
              <a:buFont typeface="Wingdings" panose="05000000000000000000" pitchFamily="2" charset="2"/>
              <a:buChar char=""/>
            </a:pPr>
            <a:endParaRPr lang="en-US" altLang="zh-CN" sz="2400" kern="100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buSzPts val="1400"/>
              <a:buFont typeface="Wingdings" panose="05000000000000000000" pitchFamily="2" charset="2"/>
              <a:buChar char=""/>
            </a:pPr>
            <a:r>
              <a:rPr lang="en-US" altLang="zh-CN" sz="2400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Please choose one of the research topics we provide (</a:t>
            </a:r>
            <a:r>
              <a:rPr lang="en-US" altLang="zh-CN" sz="2400" kern="1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Open source reference papers, code, and datasets are available)</a:t>
            </a:r>
          </a:p>
          <a:p>
            <a:pPr marL="342900" lvl="0" indent="-342900">
              <a:buSzPts val="1400"/>
              <a:buFont typeface="Wingdings" panose="05000000000000000000" pitchFamily="2" charset="2"/>
              <a:buChar char=""/>
            </a:pPr>
            <a:endParaRPr lang="zh-CN" altLang="zh-CN" sz="2400" kern="100" dirty="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buSzPts val="1400"/>
              <a:buFont typeface="Wingdings" panose="05000000000000000000" pitchFamily="2" charset="2"/>
              <a:buChar char=""/>
            </a:pPr>
            <a:r>
              <a:rPr lang="en-US" altLang="zh-CN" sz="2400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Materials to be submitted: Code, Demo, Report and Presentation (15-20 min)  </a:t>
            </a:r>
          </a:p>
          <a:p>
            <a:pPr marL="342900" lvl="0" indent="-342900">
              <a:buSzPts val="1400"/>
              <a:buFont typeface="Wingdings" panose="05000000000000000000" pitchFamily="2" charset="2"/>
              <a:buChar char=""/>
            </a:pPr>
            <a:endParaRPr lang="zh-CN" altLang="zh-CN" sz="2400" kern="100" dirty="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buSzPts val="1400"/>
              <a:buFont typeface="Wingdings" panose="05000000000000000000" pitchFamily="2" charset="2"/>
              <a:buChar char=""/>
            </a:pPr>
            <a:r>
              <a:rPr lang="en-US" altLang="zh-CN" sz="2400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Presentation date: the 14th week to the 16th week</a:t>
            </a:r>
          </a:p>
          <a:p>
            <a:pPr marL="342900" lvl="0" indent="-342900">
              <a:buSzPts val="1400"/>
              <a:buFont typeface="Wingdings" panose="05000000000000000000" pitchFamily="2" charset="2"/>
              <a:buChar char=""/>
            </a:pPr>
            <a:endParaRPr lang="en-US" altLang="zh-CN" sz="2400" kern="100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buSzPts val="1400"/>
              <a:buFont typeface="Wingdings" panose="05000000000000000000" pitchFamily="2" charset="2"/>
              <a:buChar char=""/>
            </a:pPr>
            <a:r>
              <a:rPr lang="en-US" altLang="zh-CN" sz="2400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The order will be based on the shared spreadsheet posted in the QQ group.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105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278A0B9-C807-46F1-B433-71413FBBFBAA}"/>
              </a:ext>
            </a:extLst>
          </p:cNvPr>
          <p:cNvSpPr txBox="1"/>
          <p:nvPr/>
        </p:nvSpPr>
        <p:spPr>
          <a:xfrm>
            <a:off x="3535052" y="556181"/>
            <a:ext cx="47699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rgbClr val="C00000"/>
                </a:solidFill>
              </a:rPr>
              <a:t>Report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FBF8CC4-F779-4985-B635-82604B58997B}"/>
              </a:ext>
            </a:extLst>
          </p:cNvPr>
          <p:cNvSpPr txBox="1"/>
          <p:nvPr/>
        </p:nvSpPr>
        <p:spPr>
          <a:xfrm>
            <a:off x="3817855" y="1615298"/>
            <a:ext cx="4204355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 responsibilities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kern="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Background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kern="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Contribution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kern="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Methodology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kern="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Datasets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kern="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Experiments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959699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61E15FF4-A3D5-4781-A0C2-1B50A3037AEB}"/>
              </a:ext>
            </a:extLst>
          </p:cNvPr>
          <p:cNvSpPr txBox="1"/>
          <p:nvPr/>
        </p:nvSpPr>
        <p:spPr>
          <a:xfrm>
            <a:off x="3535052" y="556181"/>
            <a:ext cx="47699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rgbClr val="C00000"/>
                </a:solidFill>
              </a:rPr>
              <a:t>Grading Criteria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B48D016-C13D-4021-AEF5-DF776927A208}"/>
              </a:ext>
            </a:extLst>
          </p:cNvPr>
          <p:cNvSpPr txBox="1"/>
          <p:nvPr/>
        </p:nvSpPr>
        <p:spPr>
          <a:xfrm>
            <a:off x="1661867" y="1427599"/>
            <a:ext cx="886826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Code (20%)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en-US" altLang="zh-CN" sz="2400" b="1" kern="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Accuracy (10%)</a:t>
            </a:r>
            <a:r>
              <a:rPr lang="en-US" altLang="zh-CN" sz="2400" kern="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: The code correctly implements the requirements of the chosen topic, with all functionalities working as expected and no significant bugs.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en-US" altLang="zh-CN" sz="2400" b="1" kern="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Readability and Structure (10%)</a:t>
            </a:r>
            <a:r>
              <a:rPr lang="en-US" altLang="zh-CN" sz="2400" kern="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: The code is well-organized, properly commented, and easy to understand and maintain.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890FCCF-F65B-41A4-9A32-BFE6DD8E938E}"/>
              </a:ext>
            </a:extLst>
          </p:cNvPr>
          <p:cNvSpPr txBox="1"/>
          <p:nvPr/>
        </p:nvSpPr>
        <p:spPr>
          <a:xfrm>
            <a:off x="1661867" y="4153690"/>
            <a:ext cx="886826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Demo (15%)</a:t>
            </a:r>
          </a:p>
          <a:p>
            <a:pPr marL="342900" lvl="0" indent="-342900" algn="l"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en-US" altLang="zh-CN" sz="2400" b="1" kern="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Functionality (10%)</a:t>
            </a:r>
            <a:r>
              <a:rPr lang="en-US" altLang="zh-CN" sz="2400" kern="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: The demo effectively showcases the core features of the project, demonstrating the model or system's performance clearly.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en-US" altLang="zh-CN" sz="2400" b="1" kern="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User Experience (5%)</a:t>
            </a:r>
            <a:r>
              <a:rPr lang="en-US" altLang="zh-CN" sz="2400" kern="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: The demo is intuitive, with a simple interface and easy interaction.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3585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16D13811-8A2D-4CBD-A665-BF4D1A2EE2A5}"/>
              </a:ext>
            </a:extLst>
          </p:cNvPr>
          <p:cNvSpPr txBox="1"/>
          <p:nvPr/>
        </p:nvSpPr>
        <p:spPr>
          <a:xfrm>
            <a:off x="1500433" y="226054"/>
            <a:ext cx="919113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Report (35%)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en-US" altLang="zh-CN" sz="2400" b="1" kern="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Completeness (10%)</a:t>
            </a:r>
            <a:r>
              <a:rPr lang="en-US" altLang="zh-CN" sz="2400" kern="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: The report thoroughly explains the background,  contribution, methodology, datasets, experimental results and conclusion of the chosen topic.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en-US" altLang="zh-CN" sz="2400" b="1" kern="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Analysis and Summary (10%)</a:t>
            </a:r>
            <a:r>
              <a:rPr lang="en-US" altLang="zh-CN" sz="2400" kern="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: The report provides a deep analysis of the results, offering valuable insights, and discusses the strengths, weaknesses, and potential improvements of the project.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Innovation (15%)</a:t>
            </a:r>
            <a:r>
              <a:rPr lang="en-US" altLang="zh-C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The report highlights any novel methods, ideas, or solutions, showcasing the uniqueness of the project.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537F66C-ED0F-4DC8-B26D-F95C0957E2CE}"/>
              </a:ext>
            </a:extLst>
          </p:cNvPr>
          <p:cNvSpPr txBox="1"/>
          <p:nvPr/>
        </p:nvSpPr>
        <p:spPr>
          <a:xfrm>
            <a:off x="1500433" y="3954290"/>
            <a:ext cx="919113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Presentation</a:t>
            </a:r>
            <a:r>
              <a:rPr lang="en-US" altLang="zh-CN" sz="2400" b="1" kern="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(30%)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en-US" altLang="zh-CN" sz="2400" b="1" kern="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Clarity of Content (20%)</a:t>
            </a:r>
            <a:r>
              <a:rPr lang="en-US" altLang="zh-CN" sz="2400" kern="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: The presentation is clear, concise, and effectively communicates the key concepts and outcomes of the project.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Skills (10%)</a:t>
            </a:r>
            <a:r>
              <a:rPr lang="en-US" altLang="zh-C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The presenter speaks fluently, interacts with the audience, and uses appropriate visual aids (e.g., slides, videos, etc.).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6940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450</Words>
  <Application>Microsoft Office PowerPoint</Application>
  <PresentationFormat>宽屏</PresentationFormat>
  <Paragraphs>42</Paragraphs>
  <Slides>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PingFang SC</vt:lpstr>
      <vt:lpstr>等线</vt:lpstr>
      <vt:lpstr>等线 Light</vt:lpstr>
      <vt:lpstr>Arial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Weikun Zhou</cp:lastModifiedBy>
  <cp:revision>12</cp:revision>
  <dcterms:created xsi:type="dcterms:W3CDTF">2025-05-04T15:40:58Z</dcterms:created>
  <dcterms:modified xsi:type="dcterms:W3CDTF">2025-11-26T07:26:42Z</dcterms:modified>
</cp:coreProperties>
</file>